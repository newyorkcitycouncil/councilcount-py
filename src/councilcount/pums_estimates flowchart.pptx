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04"/>
    <p:restoredTop sz="94521"/>
  </p:normalViewPr>
  <p:slideViewPr>
    <p:cSldViewPr snapToGrid="0">
      <p:cViewPr varScale="1">
        <p:scale>
          <a:sx n="116" d="100"/>
          <a:sy n="116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7F42-20ED-F5FB-80E2-D0DE748EB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E09BF-294F-F4DC-87DF-136161E19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584F7-423A-FB49-2BBE-50A29C6B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B4E37-5B0B-8D7D-9DC9-BC5E7B13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2B7F-F8FE-F140-1E56-CE1EE64B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51E6-1FEB-97EC-22D5-6C2EEEFD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CC35-9057-40AF-ED01-E3072D0CC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33F89-7013-FAB9-5BFE-B5D06B13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166E3-1058-BA6E-2CED-00862B33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BE01-6918-44EC-E992-5765022B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30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158E-58CE-098F-F7DA-0704362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6CFD8-A86C-8961-E862-BE7D94E4F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327A-33E5-EFEB-DEF2-4492FB3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CAF7F-46C6-C277-8422-C7893B74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6280B-7248-D8A4-B641-5FB6FD3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2A7C-E46A-54FF-F1EC-6E04693E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45E0-1D4E-BC61-1820-7D9317E05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F7654-E4DB-06A1-EF2B-89F7DED8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10F65-2EF7-9142-F0B3-243DF969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D39E2-3F96-E0E6-7459-10608CBE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60A07-5DED-D012-DB7A-73AC26FF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5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7DF2-4A99-16A5-D86A-4676BE8C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0B6AA-8E9F-82D7-20AA-602EE877A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D149C-C5BC-D4C1-BD33-555BD932B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34DED-F2B6-501B-3C8D-68039EDD1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79355-8B3D-7D88-9430-B0DD64D82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88818-63C1-0286-8699-E69C0236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EC847-C056-7AF3-E1EE-B673654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76E96-FCB3-7A53-1563-665BCE10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2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48E8-B87C-9644-D730-71CE00BE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A96D2-F8E7-F425-0B04-BF4FF780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4E37-8C70-732B-E4A4-B9025B7D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60831-B6CE-07B5-878F-56D97ADD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40D24-E083-8D5D-1773-4A6AC0AD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88796-BBEB-4F56-04B9-A9EB01A7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B65A8-303A-BF7C-C3F4-325B728E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FE7E-4380-4945-5CEB-D54EFB47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9115B-717F-9533-1FFF-166CFD649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D0BDA-541C-F505-729E-3F7387683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265C7-CC9D-C00B-3F30-520EE15C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D0B7D-C2AF-4255-BC9A-5E041580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00801-243E-FBA7-3B56-FA0ED2BC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7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B2EC-03D0-DD30-1A54-88FA1E61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25401-1D19-33CF-C9C9-F94C4B0BA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DE4E2-9E63-559F-3043-F5119016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74D77-C5BE-2848-97A2-B5B40572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C463C-16D4-E103-FC0B-5174A591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0CCE9-4457-4F4A-FB59-F6527278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1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6C4C-9CC8-0B48-43D9-BDBA026B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23A35-856B-EBFB-5948-FD14E26CF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B45C-2112-4012-125B-E82CAA9E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7F263-4B20-CF55-6EAE-A6BE7C55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8708-927C-66E1-529B-26E38B6C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8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E4A3B9-FD50-5357-3F1B-2A9326AE0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4CB26-5A13-4494-E63D-1B56AB025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7D53-3D7E-AC30-149C-6E71D550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13B2-461D-74D7-11FB-B8351750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614F5-1C52-8C75-7348-AD201030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6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A06D1-71D5-3742-CECA-1C2F2C3E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3DDD-3D61-F56C-3C3A-49D8AD87C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9B51-2ECE-90A9-DB15-783B68BF2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B1D0B-7660-F847-944A-518AF0800F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97E84-9153-EA53-236B-CBCAC19CE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4B317-AA28-8A26-0AF5-6F07D3A08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545EE-C6B3-F74C-8FF1-08AFB27A0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DD79-61EF-1033-6127-349A3190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C5E6-ACBB-D633-BFAE-D925F3C0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User-info functions are a batch of self-sufficient functions that report on existing data. They don’t use helpers and don’t do math.</a:t>
            </a:r>
          </a:p>
          <a:p>
            <a:r>
              <a:rPr lang="en-US" dirty="0"/>
              <a:t>DRY functions do not inherently advance calculations but avoid repetitive code at various points.</a:t>
            </a:r>
          </a:p>
          <a:p>
            <a:r>
              <a:rPr lang="en-US" dirty="0"/>
              <a:t>The climactic function, </a:t>
            </a:r>
            <a:r>
              <a:rPr lang="en-US" dirty="0" err="1"/>
              <a:t>generate_new_estimates</a:t>
            </a:r>
            <a:r>
              <a:rPr lang="en-US" dirty="0"/>
              <a:t>(), has markedly different procedures for “census geographies” (PUMA, borough, city) and “data team geographies” (</a:t>
            </a:r>
            <a:r>
              <a:rPr lang="en-US" dirty="0" err="1"/>
              <a:t>councildist</a:t>
            </a:r>
            <a:r>
              <a:rPr lang="en-US" dirty="0"/>
              <a:t>, </a:t>
            </a:r>
            <a:r>
              <a:rPr lang="en-US" dirty="0" err="1"/>
              <a:t>communitydist</a:t>
            </a:r>
            <a:r>
              <a:rPr lang="en-US" dirty="0"/>
              <a:t>, </a:t>
            </a:r>
            <a:r>
              <a:rPr lang="en-US" dirty="0" err="1"/>
              <a:t>nta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Data Team Geographies are handled by the part of the chart labeled </a:t>
            </a:r>
            <a:r>
              <a:rPr lang="en-US" dirty="0" err="1"/>
              <a:t>generate_new_estimates_A</a:t>
            </a:r>
            <a:r>
              <a:rPr lang="en-US" dirty="0"/>
              <a:t>(), using many helper functions.</a:t>
            </a:r>
          </a:p>
          <a:p>
            <a:pPr lvl="1"/>
            <a:r>
              <a:rPr lang="en-US" dirty="0"/>
              <a:t>Census Geographies are handled by the part of the chart labeled </a:t>
            </a:r>
            <a:r>
              <a:rPr lang="en-US" dirty="0" err="1"/>
              <a:t>generate_new_estimates_B</a:t>
            </a:r>
            <a:r>
              <a:rPr lang="en-US" dirty="0"/>
              <a:t>(), relying mainly on direct calculations.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9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CBB6E0-72B3-65B2-FA89-63BB27F89AA6}"/>
              </a:ext>
            </a:extLst>
          </p:cNvPr>
          <p:cNvSpPr txBox="1"/>
          <p:nvPr/>
        </p:nvSpPr>
        <p:spPr>
          <a:xfrm>
            <a:off x="7753821" y="845862"/>
            <a:ext cx="4121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pums_to_census</a:t>
            </a:r>
            <a:r>
              <a:rPr lang="en-US" dirty="0"/>
              <a:t>(), _</a:t>
            </a:r>
            <a:r>
              <a:rPr lang="en-US" dirty="0" err="1"/>
              <a:t>API_pull</a:t>
            </a:r>
            <a:r>
              <a:rPr lang="en-US" dirty="0"/>
              <a:t>(), _</a:t>
            </a:r>
            <a:r>
              <a:rPr lang="en-US" dirty="0" err="1"/>
              <a:t>expand_var_codes</a:t>
            </a:r>
            <a:r>
              <a:rPr lang="en-US" dirty="0"/>
              <a:t>(), _</a:t>
            </a:r>
            <a:r>
              <a:rPr lang="en-US" dirty="0" err="1"/>
              <a:t>access_denom</a:t>
            </a:r>
            <a:r>
              <a:rPr lang="en-US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804C8-31B5-DF58-104F-831418C0B02C}"/>
              </a:ext>
            </a:extLst>
          </p:cNvPr>
          <p:cNvSpPr txBox="1"/>
          <p:nvPr/>
        </p:nvSpPr>
        <p:spPr>
          <a:xfrm>
            <a:off x="2616212" y="110882"/>
            <a:ext cx="777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API_pull</a:t>
            </a:r>
            <a:r>
              <a:rPr lang="en-US" dirty="0"/>
              <a:t>(), _</a:t>
            </a:r>
            <a:r>
              <a:rPr lang="en-US" dirty="0" err="1"/>
              <a:t>get_geo_info</a:t>
            </a:r>
            <a:r>
              <a:rPr lang="en-US" dirty="0"/>
              <a:t>(), _</a:t>
            </a:r>
            <a:r>
              <a:rPr lang="en-US" dirty="0" err="1"/>
              <a:t>harmonize_variables</a:t>
            </a:r>
            <a:r>
              <a:rPr lang="en-US" dirty="0"/>
              <a:t>(), _</a:t>
            </a:r>
            <a:r>
              <a:rPr lang="en-US" dirty="0" err="1"/>
              <a:t>person_to_household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88FF8-4DE1-4ED1-6A6E-1F44916A4435}"/>
              </a:ext>
            </a:extLst>
          </p:cNvPr>
          <p:cNvSpPr txBox="1"/>
          <p:nvPr/>
        </p:nvSpPr>
        <p:spPr>
          <a:xfrm>
            <a:off x="4999237" y="947039"/>
            <a:ext cx="244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pull_single_universe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E8DAC-C484-CD8F-E28D-5A599B095D57}"/>
              </a:ext>
            </a:extLst>
          </p:cNvPr>
          <p:cNvSpPr txBox="1"/>
          <p:nvPr/>
        </p:nvSpPr>
        <p:spPr>
          <a:xfrm>
            <a:off x="5127509" y="1772651"/>
            <a:ext cx="218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pull_census_data</a:t>
            </a:r>
            <a:r>
              <a:rPr lang="en-US" dirty="0"/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4BE319-0AFC-567C-62FD-EC2197299ED1}"/>
              </a:ext>
            </a:extLst>
          </p:cNvPr>
          <p:cNvSpPr/>
          <p:nvPr/>
        </p:nvSpPr>
        <p:spPr>
          <a:xfrm>
            <a:off x="7753821" y="870738"/>
            <a:ext cx="4121274" cy="6935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AADE3C-0CEC-891C-EF89-BB0928A90C43}"/>
              </a:ext>
            </a:extLst>
          </p:cNvPr>
          <p:cNvSpPr/>
          <p:nvPr/>
        </p:nvSpPr>
        <p:spPr>
          <a:xfrm>
            <a:off x="2619731" y="109633"/>
            <a:ext cx="7770589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7913F8-3756-1FF1-C9FD-313A3B3921DC}"/>
              </a:ext>
            </a:extLst>
          </p:cNvPr>
          <p:cNvCxnSpPr>
            <a:cxnSpLocks/>
          </p:cNvCxnSpPr>
          <p:nvPr/>
        </p:nvCxnSpPr>
        <p:spPr>
          <a:xfrm>
            <a:off x="6258460" y="532377"/>
            <a:ext cx="0" cy="414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14F3051-3304-2FB4-EFB7-CBC813F99F10}"/>
              </a:ext>
            </a:extLst>
          </p:cNvPr>
          <p:cNvSpPr/>
          <p:nvPr/>
        </p:nvSpPr>
        <p:spPr>
          <a:xfrm>
            <a:off x="4999237" y="947039"/>
            <a:ext cx="244201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A219BE-27E1-9037-9C46-1A8504C30A12}"/>
              </a:ext>
            </a:extLst>
          </p:cNvPr>
          <p:cNvCxnSpPr>
            <a:cxnSpLocks/>
          </p:cNvCxnSpPr>
          <p:nvPr/>
        </p:nvCxnSpPr>
        <p:spPr>
          <a:xfrm>
            <a:off x="6258460" y="1315832"/>
            <a:ext cx="0" cy="46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36F0FAF-9ED2-E2A1-ED6E-28C6FDE7FF4F}"/>
              </a:ext>
            </a:extLst>
          </p:cNvPr>
          <p:cNvSpPr/>
          <p:nvPr/>
        </p:nvSpPr>
        <p:spPr>
          <a:xfrm>
            <a:off x="5203878" y="1772651"/>
            <a:ext cx="218547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FF9C4F-97A9-0DF4-7089-0868A2F10C0A}"/>
              </a:ext>
            </a:extLst>
          </p:cNvPr>
          <p:cNvSpPr txBox="1"/>
          <p:nvPr/>
        </p:nvSpPr>
        <p:spPr>
          <a:xfrm>
            <a:off x="9066624" y="6264734"/>
            <a:ext cx="31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generate_new_estimates_B</a:t>
            </a:r>
            <a:r>
              <a:rPr lang="en-US"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3FD44-FE53-2080-6A6F-5FFE0EE1F3CF}"/>
              </a:ext>
            </a:extLst>
          </p:cNvPr>
          <p:cNvSpPr txBox="1"/>
          <p:nvPr/>
        </p:nvSpPr>
        <p:spPr>
          <a:xfrm>
            <a:off x="527381" y="3743928"/>
            <a:ext cx="281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generate_bbl_estimates</a:t>
            </a:r>
            <a:r>
              <a:rPr lang="en-US" dirty="0"/>
              <a:t>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31AC2-D207-80E1-FCAE-73F7054AC9F6}"/>
              </a:ext>
            </a:extLst>
          </p:cNvPr>
          <p:cNvSpPr txBox="1"/>
          <p:nvPr/>
        </p:nvSpPr>
        <p:spPr>
          <a:xfrm>
            <a:off x="3812485" y="3757285"/>
            <a:ext cx="278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generate_bbl_variances</a:t>
            </a:r>
            <a:r>
              <a:rPr lang="en-US" dirty="0"/>
              <a:t>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ED5378-979E-15CA-464E-B15E77AA9C37}"/>
              </a:ext>
            </a:extLst>
          </p:cNvPr>
          <p:cNvSpPr/>
          <p:nvPr/>
        </p:nvSpPr>
        <p:spPr>
          <a:xfrm>
            <a:off x="9066624" y="6264734"/>
            <a:ext cx="302858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0EA3B6-FD3A-419C-051E-AC422476482E}"/>
              </a:ext>
            </a:extLst>
          </p:cNvPr>
          <p:cNvSpPr/>
          <p:nvPr/>
        </p:nvSpPr>
        <p:spPr>
          <a:xfrm>
            <a:off x="3789282" y="3764486"/>
            <a:ext cx="2788264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B0FB6-62E5-6745-9780-FE43DFC3EDBC}"/>
              </a:ext>
            </a:extLst>
          </p:cNvPr>
          <p:cNvSpPr/>
          <p:nvPr/>
        </p:nvSpPr>
        <p:spPr>
          <a:xfrm>
            <a:off x="603090" y="3760956"/>
            <a:ext cx="2668555" cy="325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56019-7062-728B-30A8-072DD88C5162}"/>
              </a:ext>
            </a:extLst>
          </p:cNvPr>
          <p:cNvSpPr txBox="1"/>
          <p:nvPr/>
        </p:nvSpPr>
        <p:spPr>
          <a:xfrm>
            <a:off x="219501" y="6264734"/>
            <a:ext cx="31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generate_new_estimates_A</a:t>
            </a:r>
            <a:r>
              <a:rPr lang="en-US" dirty="0"/>
              <a:t>()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06D3C4-4887-5CA5-F68D-E686AF438E32}"/>
              </a:ext>
            </a:extLst>
          </p:cNvPr>
          <p:cNvSpPr/>
          <p:nvPr/>
        </p:nvSpPr>
        <p:spPr>
          <a:xfrm>
            <a:off x="219501" y="6264734"/>
            <a:ext cx="315131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1C88F3-7BC5-0120-AAC1-9FE4DCB727A1}"/>
              </a:ext>
            </a:extLst>
          </p:cNvPr>
          <p:cNvCxnSpPr>
            <a:cxnSpLocks/>
          </p:cNvCxnSpPr>
          <p:nvPr/>
        </p:nvCxnSpPr>
        <p:spPr>
          <a:xfrm flipH="1">
            <a:off x="2450574" y="4159770"/>
            <a:ext cx="2389731" cy="205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672F1FF-670D-1028-9404-1B7A33CBDBDE}"/>
              </a:ext>
            </a:extLst>
          </p:cNvPr>
          <p:cNvSpPr txBox="1"/>
          <p:nvPr/>
        </p:nvSpPr>
        <p:spPr>
          <a:xfrm>
            <a:off x="5523515" y="5914939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clean_columns</a:t>
            </a:r>
            <a:r>
              <a:rPr lang="en-US" dirty="0"/>
              <a:t>()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4954C0-4B5D-1FF3-13BE-5E755937F426}"/>
              </a:ext>
            </a:extLst>
          </p:cNvPr>
          <p:cNvSpPr/>
          <p:nvPr/>
        </p:nvSpPr>
        <p:spPr>
          <a:xfrm>
            <a:off x="5530553" y="5910961"/>
            <a:ext cx="1948947" cy="3978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27278A-108D-8F11-5998-E5B876BFC619}"/>
              </a:ext>
            </a:extLst>
          </p:cNvPr>
          <p:cNvSpPr txBox="1"/>
          <p:nvPr/>
        </p:nvSpPr>
        <p:spPr>
          <a:xfrm>
            <a:off x="4599127" y="2885551"/>
            <a:ext cx="2587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calc_proportion_MOE</a:t>
            </a:r>
            <a:r>
              <a:rPr lang="en-US" dirty="0"/>
              <a:t>()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9436635-EEB2-1AC6-5522-7B1100F8E47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389348" y="1957317"/>
            <a:ext cx="4507751" cy="4260907"/>
          </a:xfrm>
          <a:prstGeom prst="bentConnector3">
            <a:avLst>
              <a:gd name="adj1" fmla="val 999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611735D-1868-6A7C-5347-499B1EA34798}"/>
              </a:ext>
            </a:extLst>
          </p:cNvPr>
          <p:cNvSpPr/>
          <p:nvPr/>
        </p:nvSpPr>
        <p:spPr>
          <a:xfrm>
            <a:off x="4627714" y="2893063"/>
            <a:ext cx="2528156" cy="367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E525B0F-9B9C-F5B6-0E34-20F49C7B581C}"/>
              </a:ext>
            </a:extLst>
          </p:cNvPr>
          <p:cNvCxnSpPr>
            <a:cxnSpLocks/>
          </p:cNvCxnSpPr>
          <p:nvPr/>
        </p:nvCxnSpPr>
        <p:spPr>
          <a:xfrm>
            <a:off x="1796195" y="3210782"/>
            <a:ext cx="0" cy="533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BF4A2DE-63E8-D808-6CAB-B5082B034DE5}"/>
              </a:ext>
            </a:extLst>
          </p:cNvPr>
          <p:cNvSpPr/>
          <p:nvPr/>
        </p:nvSpPr>
        <p:spPr>
          <a:xfrm>
            <a:off x="8653426" y="2887564"/>
            <a:ext cx="1324371" cy="368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_</a:t>
            </a:r>
            <a:r>
              <a:rPr lang="en-US" dirty="0" err="1">
                <a:solidFill>
                  <a:schemeClr val="tx1"/>
                </a:solidFill>
              </a:rPr>
              <a:t>calc_CV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9689494-7FD2-0811-B5FF-DF79ABE3E65E}"/>
              </a:ext>
            </a:extLst>
          </p:cNvPr>
          <p:cNvCxnSpPr>
            <a:cxnSpLocks/>
          </p:cNvCxnSpPr>
          <p:nvPr/>
        </p:nvCxnSpPr>
        <p:spPr>
          <a:xfrm flipH="1">
            <a:off x="8617633" y="3270089"/>
            <a:ext cx="653929" cy="489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020D822-CB03-3954-6E67-D3DA8D53CD0A}"/>
              </a:ext>
            </a:extLst>
          </p:cNvPr>
          <p:cNvSpPr txBox="1"/>
          <p:nvPr/>
        </p:nvSpPr>
        <p:spPr>
          <a:xfrm>
            <a:off x="7207839" y="3786135"/>
            <a:ext cx="2202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get_MOE_and_CV</a:t>
            </a:r>
            <a:r>
              <a:rPr lang="en-US" dirty="0"/>
              <a:t>()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E9F0200A-753B-81B9-D6B1-700E5607F0F5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440172" y="1957316"/>
            <a:ext cx="4763706" cy="4260907"/>
          </a:xfrm>
          <a:prstGeom prst="bentConnector3">
            <a:avLst>
              <a:gd name="adj1" fmla="val 999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BA49C5D-5A81-B1E8-6BEE-C10FC13B1BEB}"/>
              </a:ext>
            </a:extLst>
          </p:cNvPr>
          <p:cNvSpPr/>
          <p:nvPr/>
        </p:nvSpPr>
        <p:spPr>
          <a:xfrm>
            <a:off x="7275166" y="3778196"/>
            <a:ext cx="2067489" cy="3894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C13E64E-72E0-38DD-FA15-DF014D4E1ADF}"/>
              </a:ext>
            </a:extLst>
          </p:cNvPr>
          <p:cNvCxnSpPr>
            <a:cxnSpLocks/>
            <a:stCxn id="70" idx="2"/>
            <a:endCxn id="18" idx="0"/>
          </p:cNvCxnSpPr>
          <p:nvPr/>
        </p:nvCxnSpPr>
        <p:spPr>
          <a:xfrm flipH="1">
            <a:off x="5206617" y="3260965"/>
            <a:ext cx="685175" cy="49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5086588-F28D-879E-9C1B-7D816D2BFB3A}"/>
              </a:ext>
            </a:extLst>
          </p:cNvPr>
          <p:cNvSpPr txBox="1"/>
          <p:nvPr/>
        </p:nvSpPr>
        <p:spPr>
          <a:xfrm>
            <a:off x="5446828" y="4708716"/>
            <a:ext cx="2883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estimates_by_geography</a:t>
            </a:r>
            <a:r>
              <a:rPr lang="en-US" dirty="0"/>
              <a:t>()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09D98BB-2726-F67C-31AD-A408F97D1E76}"/>
              </a:ext>
            </a:extLst>
          </p:cNvPr>
          <p:cNvSpPr/>
          <p:nvPr/>
        </p:nvSpPr>
        <p:spPr>
          <a:xfrm>
            <a:off x="5519859" y="4720154"/>
            <a:ext cx="288322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3031F8C-E838-AB67-03D3-E2E22DA19321}"/>
              </a:ext>
            </a:extLst>
          </p:cNvPr>
          <p:cNvCxnSpPr>
            <a:cxnSpLocks/>
          </p:cNvCxnSpPr>
          <p:nvPr/>
        </p:nvCxnSpPr>
        <p:spPr>
          <a:xfrm flipH="1">
            <a:off x="7207839" y="4189324"/>
            <a:ext cx="926375" cy="50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EF40E1D-4A12-0B85-FC4C-A778925DBC89}"/>
              </a:ext>
            </a:extLst>
          </p:cNvPr>
          <p:cNvSpPr txBox="1"/>
          <p:nvPr/>
        </p:nvSpPr>
        <p:spPr>
          <a:xfrm>
            <a:off x="22326" y="630553"/>
            <a:ext cx="419124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err="1"/>
              <a:t>available_years</a:t>
            </a:r>
            <a:r>
              <a:rPr lang="en-US" sz="1700" dirty="0"/>
              <a:t>(), </a:t>
            </a:r>
            <a:r>
              <a:rPr lang="en-US" sz="1700" dirty="0" err="1"/>
              <a:t>get_census_api_codes</a:t>
            </a:r>
            <a:r>
              <a:rPr lang="en-US" sz="1700" dirty="0"/>
              <a:t>(), </a:t>
            </a:r>
            <a:r>
              <a:rPr lang="en-US" sz="1700" dirty="0" err="1"/>
              <a:t>get_available_councilcount_codes</a:t>
            </a:r>
            <a:r>
              <a:rPr lang="en-US" sz="1700" dirty="0"/>
              <a:t>(), </a:t>
            </a:r>
            <a:r>
              <a:rPr lang="en-US" sz="1700" dirty="0" err="1"/>
              <a:t>get_bbl_population_estimates</a:t>
            </a:r>
            <a:r>
              <a:rPr lang="en-US" sz="1700" dirty="0"/>
              <a:t>(), </a:t>
            </a:r>
            <a:r>
              <a:rPr lang="en-US" sz="1700" dirty="0" err="1"/>
              <a:t>get_councilcount_estimates</a:t>
            </a:r>
            <a:r>
              <a:rPr lang="en-US" sz="1700" dirty="0"/>
              <a:t>()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6E09B49-1AB2-62C3-2882-19F4D038292D}"/>
              </a:ext>
            </a:extLst>
          </p:cNvPr>
          <p:cNvSpPr/>
          <p:nvPr/>
        </p:nvSpPr>
        <p:spPr>
          <a:xfrm>
            <a:off x="27419" y="663630"/>
            <a:ext cx="4076464" cy="1053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62025F-244D-3313-6CD4-90F63C63A9AE}"/>
              </a:ext>
            </a:extLst>
          </p:cNvPr>
          <p:cNvSpPr txBox="1"/>
          <p:nvPr/>
        </p:nvSpPr>
        <p:spPr>
          <a:xfrm>
            <a:off x="-43872" y="328206"/>
            <a:ext cx="2148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User-info functions: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0AD18-7856-4642-9A47-E046D6528AF6}"/>
              </a:ext>
            </a:extLst>
          </p:cNvPr>
          <p:cNvSpPr txBox="1"/>
          <p:nvPr/>
        </p:nvSpPr>
        <p:spPr>
          <a:xfrm>
            <a:off x="7753821" y="556162"/>
            <a:ext cx="1656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DRY functions: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7948E-E6D6-8447-3E80-74863187B133}"/>
              </a:ext>
            </a:extLst>
          </p:cNvPr>
          <p:cNvSpPr txBox="1"/>
          <p:nvPr/>
        </p:nvSpPr>
        <p:spPr>
          <a:xfrm>
            <a:off x="584186" y="2859451"/>
            <a:ext cx="298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dirty="0" err="1"/>
              <a:t>calc_proportion_estimate</a:t>
            </a:r>
            <a:r>
              <a:rPr lang="en-US" dirty="0"/>
              <a:t>()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98F8D-E921-7E80-E7D2-43043332160A}"/>
              </a:ext>
            </a:extLst>
          </p:cNvPr>
          <p:cNvSpPr/>
          <p:nvPr/>
        </p:nvSpPr>
        <p:spPr>
          <a:xfrm>
            <a:off x="584186" y="2880920"/>
            <a:ext cx="2934062" cy="3393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251343-0D0E-719C-323D-10D526B5C410}"/>
              </a:ext>
            </a:extLst>
          </p:cNvPr>
          <p:cNvCxnSpPr/>
          <p:nvPr/>
        </p:nvCxnSpPr>
        <p:spPr>
          <a:xfrm>
            <a:off x="1796195" y="4077263"/>
            <a:ext cx="0" cy="2176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B6E173A-59D6-3A9D-E0D7-FEB151CCCC53}"/>
              </a:ext>
            </a:extLst>
          </p:cNvPr>
          <p:cNvCxnSpPr>
            <a:cxnSpLocks/>
          </p:cNvCxnSpPr>
          <p:nvPr/>
        </p:nvCxnSpPr>
        <p:spPr>
          <a:xfrm flipH="1">
            <a:off x="3370812" y="5100924"/>
            <a:ext cx="2123871" cy="116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1B4173-18C2-D82F-1039-E94A255A7297}"/>
              </a:ext>
            </a:extLst>
          </p:cNvPr>
          <p:cNvCxnSpPr>
            <a:stCxn id="36" idx="3"/>
            <a:endCxn id="19" idx="1"/>
          </p:cNvCxnSpPr>
          <p:nvPr/>
        </p:nvCxnSpPr>
        <p:spPr>
          <a:xfrm>
            <a:off x="7479500" y="6109871"/>
            <a:ext cx="1587124" cy="339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162DBCA-5BBE-B3D1-081D-13B51091CEF9}"/>
              </a:ext>
            </a:extLst>
          </p:cNvPr>
          <p:cNvCxnSpPr>
            <a:stCxn id="36" idx="1"/>
            <a:endCxn id="30" idx="3"/>
          </p:cNvCxnSpPr>
          <p:nvPr/>
        </p:nvCxnSpPr>
        <p:spPr>
          <a:xfrm flipH="1">
            <a:off x="3370813" y="6109871"/>
            <a:ext cx="2159740" cy="339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9B76760E-1FE8-8035-28BD-BF0BC0954E07}"/>
              </a:ext>
            </a:extLst>
          </p:cNvPr>
          <p:cNvCxnSpPr>
            <a:stCxn id="78" idx="3"/>
            <a:endCxn id="19" idx="0"/>
          </p:cNvCxnSpPr>
          <p:nvPr/>
        </p:nvCxnSpPr>
        <p:spPr>
          <a:xfrm>
            <a:off x="9977797" y="3071902"/>
            <a:ext cx="603117" cy="31928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67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302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Context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Lopez-Jensen, Lukas</dc:creator>
  <cp:lastModifiedBy>Lopez-Jensen, Lukas</cp:lastModifiedBy>
  <cp:revision>9</cp:revision>
  <dcterms:created xsi:type="dcterms:W3CDTF">2026-02-13T16:14:23Z</dcterms:created>
  <dcterms:modified xsi:type="dcterms:W3CDTF">2026-02-25T17:05:46Z</dcterms:modified>
</cp:coreProperties>
</file>